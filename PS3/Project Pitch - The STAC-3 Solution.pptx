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Space Grotesk"/>
      <ns0:bold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ed33ed73-dec5-4ab9-bf42-04124f1ab164.fntdata" /><ns0:Relationship Id="rIdFont17" Type="http://schemas.openxmlformats.org/officeDocument/2006/relationships/font" Target="fonts/cdb119fe-f420-403f-af19-005163621f3b.fntdata" /><ns0:Relationship Id="rIdFont18" Type="http://schemas.openxmlformats.org/officeDocument/2006/relationships/font" Target="fonts/cdb3d402-ee0f-4b1b-908f-f4ddecf2461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582417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0828" y="2237482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A580C"/>
                </a:solidFill>
                <a:latin typeface="Space Grotesk"/>
              </a:rPr>
              <a:t>OPERATION DIM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0415" y="2666107"/>
            <a:ext cx="9351168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AFAFA"/>
                </a:solidFill>
                <a:latin typeface="Space Grotesk"/>
              </a:rPr>
              <a:t>THE STAC-3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648967"/>
            <a:ext cx="83343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1A1AA"/>
                </a:solidFill>
                <a:latin typeface="Inter"/>
              </a:rPr>
              <a:t>Robust automation. Critical analysis. A definitive planetary candidate.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3098452"/>
            <a:ext cx="3225849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83149" y="3198465"/>
            <a:ext cx="3225849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3799" y="3098452"/>
            <a:ext cx="3225849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479452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49" y="357946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47945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762000"/>
            <a:ext cx="1123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PROJECT SUPERIORITY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085850"/>
            <a:ext cx="112395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9090B"/>
                </a:solidFill>
                <a:latin typeface="Space Grotesk"/>
              </a:rPr>
              <a:t>The Competitive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012852"/>
            <a:ext cx="323380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90B"/>
                </a:solidFill>
                <a:latin typeface="Space Grotesk"/>
              </a:rPr>
              <a:t>Zero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460527"/>
            <a:ext cx="2559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Standard Python libraries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149" y="4112865"/>
            <a:ext cx="323380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90B"/>
                </a:solidFill>
                <a:latin typeface="Space Grotesk"/>
              </a:rPr>
              <a:t>Failsafe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49" y="4560540"/>
            <a:ext cx="307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Built-in fallback data arrays.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99" y="4012852"/>
            <a:ext cx="323380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90B"/>
                </a:solidFill>
                <a:latin typeface="Space Grotesk"/>
              </a:rPr>
              <a:t>Human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799" y="4460527"/>
            <a:ext cx="2559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Detects flaws in rigid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28750" y="2625030"/>
            <a:ext cx="9334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123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SCRIPT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085850"/>
            <a:ext cx="112395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9090B"/>
                </a:solidFill>
                <a:latin typeface="Space Grotesk"/>
              </a:rPr>
              <a:t>Computational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5000" y="338896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0" y="338896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5000" y="338896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62125" y="338896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5935" y="4379565"/>
            <a:ext cx="104013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9090B"/>
                </a:solidFill>
                <a:latin typeface="Space Grotesk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937" y="4751040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Parses CSV light curves.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125" y="338896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5915" y="4379565"/>
            <a:ext cx="136017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9090B"/>
                </a:solidFill>
                <a:latin typeface="Space Grotesk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328" y="4751040"/>
            <a:ext cx="3131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Calculates baseline and depth.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2125" y="338896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5923" y="4379565"/>
            <a:ext cx="122015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9090B"/>
                </a:solidFill>
                <a:latin typeface="Space Grotesk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4875" y="4751040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Applies Kepler's Third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50" y="0"/>
            <a:ext cx="531495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0"/>
            <a:ext cx="531495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655665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13191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608165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2011709"/>
            <a:ext cx="6643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Space Grotesk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335559"/>
            <a:ext cx="568071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9090B"/>
                </a:solidFill>
                <a:latin typeface="Space Grotesk"/>
              </a:rPr>
              <a:t>The Flaw in Rigid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650" y="3646140"/>
            <a:ext cx="62055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Scripts demand perfectly equal transit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122390"/>
            <a:ext cx="6262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STAC-3 data presents mixed period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598640"/>
            <a:ext cx="6262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Inter"/>
              </a:rPr>
              <a:t>Standard algorithms reject the data entirely.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66687" y="762000"/>
            <a:ext cx="12525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Space Grotesk"/>
              </a:rPr>
              <a:t>REVEALING THE HIDDEN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66687" y="1085850"/>
            <a:ext cx="1252537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9090B"/>
                </a:solidFill>
                <a:latin typeface="Space Grotesk"/>
              </a:rPr>
              <a:t>Unmasking the Multi-Planet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0"/>
            <a:ext cx="32385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b="1" sz="12000" i="0" u="none">
                <a:solidFill>
                  <a:srgbClr val="EA580C"/>
                </a:solidFill>
                <a:latin typeface="Space Grotesk"/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6825" y="4419600"/>
            <a:ext cx="2547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90B"/>
                </a:solidFill>
                <a:latin typeface="Inter"/>
              </a:rPr>
              <a:t>Day orbital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4775" y="4924425"/>
            <a:ext cx="5453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2525B"/>
                </a:solidFill>
                <a:latin typeface="Inter"/>
              </a:rPr>
              <a:t>Manual verification overrides automated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1920180"/>
            <a:ext cx="3276600" cy="4175819"/>
          </a:xfrm>
          <a:prstGeom prst="roundRect">
            <a:avLst>
              <a:gd name="adj" fmla="val 232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57700" y="1920180"/>
            <a:ext cx="3276600" cy="4175819"/>
          </a:xfrm>
          <a:prstGeom prst="roundRect">
            <a:avLst>
              <a:gd name="adj" fmla="val 232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62900" y="1920180"/>
            <a:ext cx="3276600" cy="4175819"/>
          </a:xfrm>
          <a:prstGeom prst="roundRect">
            <a:avLst>
              <a:gd name="adj" fmla="val 2325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1920180"/>
            <a:ext cx="3276600" cy="38100"/>
          </a:xfrm>
          <a:prstGeom prst="rect">
            <a:avLst/>
          </a:prstGeom>
          <a:solidFill>
            <a:srgbClr val="52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57700" y="1920180"/>
            <a:ext cx="3276600" cy="38100"/>
          </a:xfrm>
          <a:prstGeom prst="rect">
            <a:avLst/>
          </a:prstGeom>
          <a:solidFill>
            <a:srgbClr val="52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62900" y="1920180"/>
            <a:ext cx="3276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762000"/>
            <a:ext cx="112395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9090B"/>
                </a:solidFill>
                <a:latin typeface="Space Grotesk"/>
              </a:rPr>
              <a:t>Comparative System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339280"/>
            <a:ext cx="33004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9090B"/>
                </a:solidFill>
                <a:latin typeface="Space Grotesk"/>
              </a:rPr>
              <a:t>STAC-1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2339280"/>
            <a:ext cx="33004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9090B"/>
                </a:solidFill>
                <a:latin typeface="Space Grotesk"/>
              </a:rPr>
              <a:t>STAC-2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2339280"/>
            <a:ext cx="33004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A580C"/>
                </a:solidFill>
                <a:latin typeface="Space Grotesk"/>
              </a:rPr>
              <a:t>STAC-3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283458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F46"/>
                </a:solidFill>
                <a:latin typeface="Inter"/>
              </a:rPr>
              <a:t>• 5.98 R⊕ Gas Giant.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177480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F46"/>
                </a:solidFill>
                <a:latin typeface="Inter"/>
              </a:rPr>
              <a:t>• Lethal stellar radiation.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2834580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F46"/>
                </a:solidFill>
                <a:latin typeface="Inter"/>
              </a:rPr>
              <a:t>• 0.337 AU orbit.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8700" y="3148905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F3F46"/>
                </a:solidFill>
                <a:latin typeface="Inter"/>
              </a:rPr>
              <a:t>• Scorched dwarf surface.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83458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9090B"/>
                </a:solidFill>
                <a:latin typeface="Inter"/>
              </a:rPr>
              <a:t>• 1.73 R⊕ Super-Earth.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177480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9090B"/>
                </a:solidFill>
                <a:latin typeface="Inter"/>
              </a:rPr>
              <a:t>• Stable temperate zone.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102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102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517552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36652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55752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774852"/>
            <a:ext cx="1714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868834"/>
            <a:ext cx="6019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Space Grotesk"/>
              </a:rPr>
              <a:t>CANDIDATE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192684"/>
            <a:ext cx="578072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9090B"/>
                </a:solidFill>
                <a:latin typeface="Space Grotesk"/>
              </a:rPr>
              <a:t>The Most Promising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503265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11,005 km physical radius.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922365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Rocky terrestrial surface confirmed.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4341465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0.43 AU temperate orbit.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4760565"/>
            <a:ext cx="5695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Stable M-Dwarf host star.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402335"/>
            <a:ext cx="457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79156" y="2417415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A580C"/>
                </a:solidFill>
                <a:latin typeface="Space Grotesk"/>
              </a:rPr>
              <a:t>MISSION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5718" y="2846040"/>
            <a:ext cx="4500562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AFAFA"/>
                </a:solidFill>
                <a:latin typeface="Space Grotesk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5296" y="3745110"/>
            <a:ext cx="7441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1A1AA"/>
                </a:solidFill>
                <a:latin typeface="Inter"/>
              </a:rPr>
              <a:t>Deploy transmission spectroscopy. Secure the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https://images.ctfassets.net/fi0zmnwlsnja/5SmplVdCPdJdC9Ya9VEELa/cb836ce5e1f7564005f1d1af339bc114/viz-libraries-og.png?w=843&amp;h=439&amp;q=50&amp;fm=png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171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mode.com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24037"/>
            <a:ext cx="4774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http://cdn.esahubble.org/archives/images/screen/sci25003a.jpg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24062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esahubble.org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